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594360"/>
            <a:ext cx="3840480" cy="3840480"/>
          </a:xfrm>
          <a:prstGeom prst="ellipse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2926080"/>
            <a:ext cx="2743200" cy="2743200"/>
          </a:xfrm>
          <a:prstGeom prst="ellipse">
            <a:avLst/>
          </a:prstGeom>
          <a:solidFill>
            <a:srgbClr val="4DB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103120" cy="2103120"/>
          </a:xfrm>
          <a:prstGeom prst="ellipse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D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8912"/>
            <a:ext cx="713232" cy="2374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23444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Travel Weather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800" b="1">
                <a:solidFill>
                  <a:srgbClr val="F6B84C"/>
                </a:solidFill>
                <a:latin typeface="Aptos"/>
              </a:defRPr>
            </a:pPr>
            <a:r>
              <a:t>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6537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0">
                <a:solidFill>
                  <a:srgbClr val="DCEBF7"/>
                </a:solidFill>
                <a:latin typeface="Aptos"/>
              </a:defRPr>
            </a:pPr>
            <a:r>
              <a:t>Real-time weather, travel advice and outfit recommendations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56432"/>
            <a:ext cx="731520" cy="329184"/>
          </a:xfrm>
          <a:prstGeom prst="round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GPS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36192" y="3456432"/>
            <a:ext cx="1572768" cy="329184"/>
          </a:xfrm>
          <a:prstGeom prst="roundRect">
            <a:avLst/>
          </a:prstGeom>
          <a:solidFill>
            <a:srgbClr val="4DB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Open-Meteo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55264" y="3456432"/>
            <a:ext cx="822960" cy="329184"/>
          </a:xfrm>
          <a:prstGeom prst="round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Room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3456432"/>
            <a:ext cx="960120" cy="329184"/>
          </a:xfrm>
          <a:prstGeom prst="roundRect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Retrofit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0952" y="3456432"/>
            <a:ext cx="1417320" cy="329184"/>
          </a:xfrm>
          <a:prstGeom prst="roundRect">
            <a:avLst/>
          </a:prstGeom>
          <a:solidFill>
            <a:srgbClr val="E8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Outfit Advisor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349240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0">
                <a:solidFill>
                  <a:srgbClr val="FFFFFF"/>
                </a:solidFill>
                <a:latin typeface="Aptos"/>
              </a:defRPr>
            </a:pPr>
            <a:r>
              <a:t>Zhang Weibin · Mobile Development Final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650992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C8DCEC"/>
                </a:solidFill>
                <a:latin typeface="Aptos"/>
              </a:defRPr>
            </a:pPr>
            <a:r>
              <a:t>University of Debrecen, Faculty of Informatics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960120"/>
            <a:ext cx="2240280" cy="4251960"/>
          </a:xfrm>
          <a:prstGeom prst="roundRect">
            <a:avLst/>
          </a:prstGeom>
          <a:solidFill>
            <a:srgbClr val="081424"/>
          </a:solidFill>
          <a:ln>
            <a:solidFill>
              <a:srgbClr val="2F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67928" y="1161288"/>
            <a:ext cx="2020824" cy="3849624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50808" y="1344168"/>
            <a:ext cx="1051560" cy="329184"/>
          </a:xfrm>
          <a:prstGeom prst="round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Budapest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8" y="1801368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C2238"/>
                </a:solidFill>
                <a:latin typeface="Aptos"/>
              </a:defRPr>
            </a:pPr>
            <a:r>
              <a:t>22.4°C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9096" y="2167128"/>
            <a:ext cx="16733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80" b="0">
                <a:solidFill>
                  <a:srgbClr val="657488"/>
                </a:solidFill>
                <a:latin typeface="Aptos"/>
              </a:defRPr>
            </a:pPr>
            <a:r>
              <a:t>Clear sky · Wind 8 km/h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2587752"/>
            <a:ext cx="17830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05672" y="2715768"/>
            <a:ext cx="15270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80" b="0">
                <a:solidFill>
                  <a:srgbClr val="1C293A"/>
                </a:solidFill>
                <a:latin typeface="Aptos"/>
              </a:defRPr>
            </a:pPr>
            <a:r>
              <a:t>Travel: sunscreen + water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3410712"/>
            <a:ext cx="1783080" cy="786384"/>
          </a:xfrm>
          <a:prstGeom prst="roundRect">
            <a:avLst/>
          </a:prstGeom>
          <a:solidFill>
            <a:srgbClr val="D9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05672" y="3547872"/>
            <a:ext cx="15270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80" b="1">
                <a:solidFill>
                  <a:srgbClr val="0C2238"/>
                </a:solidFill>
                <a:latin typeface="Aptos"/>
              </a:defRPr>
            </a:pPr>
            <a:r>
              <a:t>Outfit: light clothes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3849624"/>
            <a:ext cx="15270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19" b="0">
                <a:solidFill>
                  <a:srgbClr val="657488"/>
                </a:solidFill>
                <a:latin typeface="Aptos"/>
              </a:defRPr>
            </a:pPr>
            <a:r>
              <a:t>+ sunglasses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C2238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657488"/>
                </a:solidFill>
                <a:latin typeface="Aptos"/>
              </a:defRPr>
            </a:pPr>
            <a:r>
              <a:t>A practical Android app accepted for grade 5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331012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73152" cy="1874519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819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947672"/>
            <a:ext cx="2926080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Help users quickly understand current weather and prepare before going outside.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417320"/>
            <a:ext cx="331012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417320"/>
            <a:ext cx="73152" cy="1874519"/>
          </a:xfrm>
          <a:prstGeom prst="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15819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1947672"/>
            <a:ext cx="2926080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Combine live weather data, GPS location, saved cities and advice generation.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417320"/>
            <a:ext cx="331012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417320"/>
            <a:ext cx="73152" cy="1874519"/>
          </a:xfrm>
          <a:prstGeom prst="rect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5819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Creative part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1947672"/>
            <a:ext cx="2926080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Outfit Advisor recommends clothing based on weather facts.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886200"/>
            <a:ext cx="9966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93A"/>
                </a:solidFill>
                <a:latin typeface="Aptos"/>
              </a:defRPr>
            </a:pPr>
            <a:r>
              <a:t>✓ Real API data from Open-Meteo</a:t>
            </a:r>
          </a:p>
          <a:p>
            <a:pPr>
              <a:spcAft>
                <a:spcPts val="600"/>
              </a:spcAft>
              <a:defRPr sz="1600">
                <a:solidFill>
                  <a:srgbClr val="1C293A"/>
                </a:solidFill>
                <a:latin typeface="Aptos"/>
              </a:defRPr>
            </a:pPr>
            <a:r>
              <a:t>✓ Works without a paid weather or LLM API key</a:t>
            </a:r>
          </a:p>
          <a:p>
            <a:pPr>
              <a:spcAft>
                <a:spcPts val="600"/>
              </a:spcAft>
              <a:defRPr sz="1600">
                <a:solidFill>
                  <a:srgbClr val="1C293A"/>
                </a:solidFill>
                <a:latin typeface="Aptos"/>
              </a:defRPr>
            </a:pPr>
            <a:r>
              <a:t>✓ Demonstrates Android UI, storage, network and location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57488"/>
                </a:solidFill>
                <a:latin typeface="Aptos"/>
              </a:defRPr>
            </a:pPr>
            <a:r>
              <a:t>Travel Weather Assistant | Zhang Weibin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5748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C2238"/>
                </a:solidFill>
                <a:latin typeface="Aptos"/>
              </a:defRPr>
            </a:pPr>
            <a:r>
              <a:t>Main App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657488"/>
                </a:solidFill>
                <a:latin typeface="Aptos"/>
              </a:defRPr>
            </a:pPr>
            <a:r>
              <a:t>What the user can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33375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325880"/>
            <a:ext cx="73152" cy="129844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490472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City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856231"/>
            <a:ext cx="29535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Search any city and load live weather.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3375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1298448"/>
          </a:xfrm>
          <a:prstGeom prst="rect">
            <a:avLst/>
          </a:prstGeom>
          <a:solidFill>
            <a:srgbClr val="4DB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490472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GPS Weather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56231"/>
            <a:ext cx="29535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Use phone location for local weather.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325880"/>
            <a:ext cx="33375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9872" y="1325880"/>
            <a:ext cx="73152" cy="1298448"/>
          </a:xfrm>
          <a:prstGeom prst="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90472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Favorites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56231"/>
            <a:ext cx="29535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Save, reload and delete favorite cities.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108960"/>
            <a:ext cx="33375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108960"/>
            <a:ext cx="73152" cy="1298448"/>
          </a:xfrm>
          <a:prstGeom prst="rect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273552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Travel Advice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3639312"/>
            <a:ext cx="29535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Generate preparation tips from weather.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108960"/>
            <a:ext cx="33375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108960"/>
            <a:ext cx="73152" cy="1298448"/>
          </a:xfrm>
          <a:prstGeom prst="rect">
            <a:avLst/>
          </a:prstGeom>
          <a:solidFill>
            <a:srgbClr val="E8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3273552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Outfit Advisor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639312"/>
            <a:ext cx="29535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Recommend clothing for current conditions.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2" y="3108960"/>
            <a:ext cx="33375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19872" y="3108960"/>
            <a:ext cx="73152" cy="129844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273552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Notification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639312"/>
            <a:ext cx="29535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Show advice outside the app screen.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57488"/>
                </a:solidFill>
                <a:latin typeface="Aptos"/>
              </a:defRPr>
            </a:pPr>
            <a:r>
              <a:t>Travel Weather Assistant | Zhang Weibin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5748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F6B84C"/>
                </a:solidFill>
                <a:latin typeface="Aptos"/>
              </a:defRPr>
            </a:pPr>
            <a:r>
              <a:t>Clean separation between UI, API, database and advice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1965960" cy="658368"/>
          </a:xfrm>
          <a:prstGeom prst="roundRect">
            <a:avLst/>
          </a:prstGeom>
          <a:solidFill>
            <a:srgbClr val="173754"/>
          </a:solidFill>
          <a:ln>
            <a:solidFill>
              <a:srgbClr val="4DB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MainActivity</a:t>
            </a:r>
            <a:br/>
            <a:r>
              <a:t>UI + events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24328" y="2203703"/>
            <a:ext cx="384048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008376" y="1874519"/>
            <a:ext cx="1965960" cy="658368"/>
          </a:xfrm>
          <a:prstGeom prst="roundRect">
            <a:avLst/>
          </a:prstGeom>
          <a:solidFill>
            <a:srgbClr val="173754"/>
          </a:solidFill>
          <a:ln>
            <a:solidFill>
              <a:srgbClr val="4DB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WeatherRepository</a:t>
            </a:r>
            <a:br/>
            <a:r>
              <a:t>API layer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74336" y="2203703"/>
            <a:ext cx="384047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358383" y="1874519"/>
            <a:ext cx="1965960" cy="658368"/>
          </a:xfrm>
          <a:prstGeom prst="roundRect">
            <a:avLst/>
          </a:prstGeom>
          <a:solidFill>
            <a:srgbClr val="173754"/>
          </a:solidFill>
          <a:ln>
            <a:solidFill>
              <a:srgbClr val="4DB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Retrofit + Gson</a:t>
            </a:r>
            <a:br/>
            <a:r>
              <a:t>JSON parsing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24344" y="2203703"/>
            <a:ext cx="384048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708392" y="1874519"/>
            <a:ext cx="1965960" cy="658368"/>
          </a:xfrm>
          <a:prstGeom prst="roundRect">
            <a:avLst/>
          </a:prstGeom>
          <a:solidFill>
            <a:srgbClr val="173754"/>
          </a:solidFill>
          <a:ln>
            <a:solidFill>
              <a:srgbClr val="4DB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Open-Meteo</a:t>
            </a:r>
            <a:br/>
            <a:r>
              <a:t>Weather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40480"/>
            <a:ext cx="1965960" cy="658368"/>
          </a:xfrm>
          <a:prstGeom prst="roundRect">
            <a:avLst/>
          </a:prstGeom>
          <a:solidFill>
            <a:srgbClr val="173754"/>
          </a:solidFill>
          <a:ln>
            <a:solidFill>
              <a:srgbClr val="4DB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FavoriteCity</a:t>
            </a:r>
            <a:br/>
            <a:r>
              <a:t>Entity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24328" y="4169664"/>
            <a:ext cx="384048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08376" y="3840480"/>
            <a:ext cx="1965960" cy="658368"/>
          </a:xfrm>
          <a:prstGeom prst="roundRect">
            <a:avLst/>
          </a:prstGeom>
          <a:solidFill>
            <a:srgbClr val="173754"/>
          </a:solidFill>
          <a:ln>
            <a:solidFill>
              <a:srgbClr val="4DB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FavoriteCityDao</a:t>
            </a:r>
            <a:br/>
            <a:r>
              <a:t>Queries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74336" y="4169664"/>
            <a:ext cx="384047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58383" y="3840480"/>
            <a:ext cx="1965960" cy="658368"/>
          </a:xfrm>
          <a:prstGeom prst="roundRect">
            <a:avLst/>
          </a:prstGeom>
          <a:solidFill>
            <a:srgbClr val="173754"/>
          </a:solidFill>
          <a:ln>
            <a:solidFill>
              <a:srgbClr val="4DB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Room Database</a:t>
            </a:r>
            <a:br/>
            <a:r>
              <a:t>Local storage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24344" y="4169664"/>
            <a:ext cx="384048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08392" y="3840480"/>
            <a:ext cx="1965960" cy="658368"/>
          </a:xfrm>
          <a:prstGeom prst="roundRect">
            <a:avLst/>
          </a:prstGeom>
          <a:solidFill>
            <a:srgbClr val="173754"/>
          </a:solidFill>
          <a:ln>
            <a:solidFill>
              <a:srgbClr val="4DB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RecyclerView</a:t>
            </a:r>
            <a:br/>
            <a:r>
              <a:t>Favorite 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1874519"/>
            <a:ext cx="1874519" cy="2624328"/>
          </a:xfrm>
          <a:prstGeom prst="roundRect">
            <a:avLst/>
          </a:prstGeom>
          <a:solidFill>
            <a:srgbClr val="173754"/>
          </a:solidFill>
          <a:ln>
            <a:solidFill>
              <a:srgbClr val="375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46920" y="1874519"/>
            <a:ext cx="73152" cy="2624328"/>
          </a:xfrm>
          <a:prstGeom prst="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48088" y="2039112"/>
            <a:ext cx="14904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Advice modules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088" y="2404872"/>
            <a:ext cx="1490472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DEEBF5"/>
                </a:solidFill>
                <a:latin typeface="Aptos"/>
              </a:defRPr>
            </a:pPr>
            <a:r>
              <a:t>WeatherInterpreter creates travel advice. OutfitAdvisor creates clothing recommendations.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57488"/>
                </a:solidFill>
                <a:latin typeface="Aptos"/>
              </a:defRPr>
            </a:pPr>
            <a:r>
              <a:t>Travel Weather Assistant | Zhang Weibin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5748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C2238"/>
                </a:solidFill>
                <a:latin typeface="Aptos"/>
              </a:defRPr>
            </a:pPr>
            <a:r>
              <a:t>Weather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657488"/>
                </a:solidFill>
                <a:latin typeface="Aptos"/>
              </a:defRPr>
            </a:pPr>
            <a:r>
              <a:t>From user input to practical advice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83080"/>
            <a:ext cx="166420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0C2238"/>
                </a:solidFill>
              </a:defRPr>
            </a:pPr>
            <a:r>
              <a:t>City name</a:t>
            </a:r>
            <a:br/>
            <a:r>
              <a:t>or GPS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78608" y="2139696"/>
            <a:ext cx="347472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26080" y="1783080"/>
            <a:ext cx="166420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0C2238"/>
                </a:solidFill>
              </a:defRPr>
            </a:pPr>
            <a:r>
              <a:t>Latitude +</a:t>
            </a:r>
            <a:br/>
            <a:r>
              <a:t>longitude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90288" y="2139696"/>
            <a:ext cx="347472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937760" y="1783080"/>
            <a:ext cx="166420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0C2238"/>
                </a:solidFill>
              </a:defRPr>
            </a:pPr>
            <a:r>
              <a:t>Weather API</a:t>
            </a:r>
            <a:br/>
            <a:r>
              <a:t>JSON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01968" y="2139696"/>
            <a:ext cx="347472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0" y="1783080"/>
            <a:ext cx="166420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0C2238"/>
                </a:solidFill>
              </a:defRPr>
            </a:pPr>
            <a:r>
              <a:t>Java model</a:t>
            </a:r>
            <a:br/>
            <a:r>
              <a:t>objects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13648" y="2139696"/>
            <a:ext cx="347472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961120" y="1783080"/>
            <a:ext cx="166420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0C2238"/>
                </a:solidFill>
              </a:defRPr>
            </a:pPr>
            <a:r>
              <a:t>Advice +</a:t>
            </a:r>
            <a:br/>
            <a:r>
              <a:t>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290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429000"/>
            <a:ext cx="73152" cy="1417320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593592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1. Geocoding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959352"/>
            <a:ext cx="2862072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City name is converted into latitude and longitude.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4290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3429000"/>
            <a:ext cx="73152" cy="1417320"/>
          </a:xfrm>
          <a:prstGeom prst="rect">
            <a:avLst/>
          </a:prstGeom>
          <a:solidFill>
            <a:srgbClr val="4DB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3593592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2. Weather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3959352"/>
            <a:ext cx="2862072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Coordinates are sent to Open-Meteo Weather API.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4290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3429000"/>
            <a:ext cx="73152" cy="1417320"/>
          </a:xfrm>
          <a:prstGeom prst="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3593592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3. Interpretation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3959352"/>
            <a:ext cx="2862072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Raw values become weather, travel and outfit advice.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57488"/>
                </a:solidFill>
                <a:latin typeface="Aptos"/>
              </a:defRPr>
            </a:pPr>
            <a:r>
              <a:t>Travel Weather Assistant | Zhang Weibin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5748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C2238"/>
                </a:solidFill>
                <a:latin typeface="Aptos"/>
              </a:defRPr>
            </a:pPr>
            <a:r>
              <a:t>API and Network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657488"/>
                </a:solidFill>
                <a:latin typeface="Aptos"/>
              </a:defRPr>
            </a:pPr>
            <a:r>
              <a:t>Third-party data integrated with Retrofit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331012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325880"/>
            <a:ext cx="73152" cy="1828800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49047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Open-Meteo Weather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856231"/>
            <a:ext cx="292608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Temperature, apparent temperature, humidity, rain, wind speed and weather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325880"/>
            <a:ext cx="331012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325880"/>
            <a:ext cx="73152" cy="1828800"/>
          </a:xfrm>
          <a:prstGeom prst="rect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149047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Geocoding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1856231"/>
            <a:ext cx="292608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Converts city names into coordinates and country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325880"/>
            <a:ext cx="331012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325880"/>
            <a:ext cx="73152" cy="1828800"/>
          </a:xfrm>
          <a:prstGeom prst="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49047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Retrofit + Gson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1856231"/>
            <a:ext cx="292608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Retrofit defines endpoints. Gson maps JSON into Java response classes.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160520"/>
            <a:ext cx="10874959" cy="804672"/>
          </a:xfrm>
          <a:prstGeom prst="roundRect">
            <a:avLst/>
          </a:prstGeom>
          <a:solidFill>
            <a:srgbClr val="19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16552"/>
            <a:ext cx="103628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Menlo"/>
              </a:defRPr>
            </a:pPr>
            <a:r>
              <a:t>fetchWeather(latitude, longitude)  -&gt;  WeatherApiService.getCurrentWeather(...)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57488"/>
                </a:solidFill>
                <a:latin typeface="Aptos"/>
              </a:defRPr>
            </a:pPr>
            <a:r>
              <a:t>Travel Weather Assistant | Zhang Weibin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5748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C2238"/>
                </a:solidFill>
                <a:latin typeface="Aptos"/>
              </a:defRPr>
            </a:pPr>
            <a:r>
              <a:t>Location and Permission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657488"/>
                </a:solidFill>
                <a:latin typeface="Aptos"/>
              </a:defRPr>
            </a:pPr>
            <a:r>
              <a:t>Safe access to current-location weather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60350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20">
                <a:solidFill>
                  <a:srgbClr val="1C293A"/>
                </a:solidFill>
                <a:latin typeface="Aptos"/>
              </a:defRPr>
            </a:pPr>
            <a:r>
              <a:t>✓ Location permissions are declared in AndroidManifest.xml</a:t>
            </a:r>
          </a:p>
          <a:p>
            <a:pPr>
              <a:spcAft>
                <a:spcPts val="600"/>
              </a:spcAft>
              <a:defRPr sz="1520">
                <a:solidFill>
                  <a:srgbClr val="1C293A"/>
                </a:solidFill>
                <a:latin typeface="Aptos"/>
              </a:defRPr>
            </a:pPr>
            <a:r>
              <a:t>✓ Runtime permission is requested only after pressing the GPS button</a:t>
            </a:r>
          </a:p>
          <a:p>
            <a:pPr>
              <a:spcAft>
                <a:spcPts val="600"/>
              </a:spcAft>
              <a:defRPr sz="1520">
                <a:solidFill>
                  <a:srgbClr val="1C293A"/>
                </a:solidFill>
                <a:latin typeface="Aptos"/>
              </a:defRPr>
            </a:pPr>
            <a:r>
              <a:t>✓ The app checks last known location first for speed and battery efficiency</a:t>
            </a:r>
          </a:p>
          <a:p>
            <a:pPr>
              <a:spcAft>
                <a:spcPts val="600"/>
              </a:spcAft>
              <a:defRPr sz="1520">
                <a:solidFill>
                  <a:srgbClr val="1C293A"/>
                </a:solidFill>
                <a:latin typeface="Aptos"/>
              </a:defRPr>
            </a:pPr>
            <a:r>
              <a:t>✓ Manual city search still works if location permission is denied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44752"/>
            <a:ext cx="3886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444752"/>
            <a:ext cx="73152" cy="1234440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16368" y="1609344"/>
            <a:ext cx="350215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Key Android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6368" y="1975104"/>
            <a:ext cx="350215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LocationManager · ActivityResultLauncher · Runtime permissions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035808"/>
            <a:ext cx="3886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3035808"/>
            <a:ext cx="73152" cy="1234440"/>
          </a:xfrm>
          <a:prstGeom prst="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3200400"/>
            <a:ext cx="350215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3566160"/>
            <a:ext cx="350215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The same weather-loading method works for both city search and GPS coordinates.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617720"/>
            <a:ext cx="3886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4617720"/>
            <a:ext cx="73152" cy="868680"/>
          </a:xfrm>
          <a:prstGeom prst="rect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6368" y="4782312"/>
            <a:ext cx="350215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User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5148072"/>
            <a:ext cx="3502152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Location is requested only when needed.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57488"/>
                </a:solidFill>
                <a:latin typeface="Aptos"/>
              </a:defRPr>
            </a:pPr>
            <a:r>
              <a:t>Travel Weather Assistant | Zhang Weibin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5748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C2238"/>
                </a:solidFill>
                <a:latin typeface="Aptos"/>
              </a:defRPr>
            </a:pPr>
            <a:r>
              <a:t>Local Storage with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657488"/>
                </a:solidFill>
                <a:latin typeface="Aptos"/>
              </a:defRPr>
            </a:pPr>
            <a:r>
              <a:t>Favorite cities stay saved on the device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331012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73152" cy="1691640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819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947672"/>
            <a:ext cx="292608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FavoriteCity represents one saved city row with coordinates and latest weather preview.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417320"/>
            <a:ext cx="331012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417320"/>
            <a:ext cx="73152" cy="1691640"/>
          </a:xfrm>
          <a:prstGeom prst="rect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15819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DAO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1947672"/>
            <a:ext cx="292608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FavoriteCityDao defines insert, delete, duplicate check and LiveData query.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417320"/>
            <a:ext cx="331012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417320"/>
            <a:ext cx="73152" cy="1691640"/>
          </a:xfrm>
          <a:prstGeom prst="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5819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1947672"/>
            <a:ext cx="292608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FavoriteCityDatabase provides the Room database instance.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4160520"/>
            <a:ext cx="1645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0C2238"/>
                </a:solidFill>
              </a:defRPr>
            </a:pPr>
            <a:r>
              <a:t>Save city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20439" y="4471416"/>
            <a:ext cx="329185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849624" y="4160520"/>
            <a:ext cx="1645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0C2238"/>
                </a:solidFill>
              </a:defRPr>
            </a:pPr>
            <a:r>
              <a:t>Room insert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95544" y="4471416"/>
            <a:ext cx="329184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824728" y="4160520"/>
            <a:ext cx="1645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0C2238"/>
                </a:solidFill>
              </a:defRPr>
            </a:pPr>
            <a:r>
              <a:t>LiveData update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70648" y="4471416"/>
            <a:ext cx="329183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99832" y="4160520"/>
            <a:ext cx="1645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0C2238"/>
                </a:solidFill>
              </a:defRPr>
            </a:pPr>
            <a:r>
              <a:t>RecyclerView refresh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57488"/>
                </a:solidFill>
                <a:latin typeface="Aptos"/>
              </a:defRPr>
            </a:pPr>
            <a:r>
              <a:t>Travel Weather Assistant | Zhang Weibin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5748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Creative Extension: Outfit Advisor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F6B84C"/>
                </a:solidFill>
                <a:latin typeface="Aptos"/>
              </a:defRPr>
            </a:pPr>
            <a:r>
              <a:t>A local rule-based advisor inspired by the professor's suggestion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3310128" cy="1938528"/>
          </a:xfrm>
          <a:prstGeom prst="roundRect">
            <a:avLst/>
          </a:prstGeom>
          <a:solidFill>
            <a:srgbClr val="173754"/>
          </a:solidFill>
          <a:ln>
            <a:solidFill>
              <a:srgbClr val="375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73152" cy="193852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5819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Input 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47672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DEEBF5"/>
                </a:solidFill>
                <a:latin typeface="Aptos"/>
              </a:defRPr>
            </a:pPr>
            <a:r>
              <a:t>Apparent temperature</a:t>
            </a:r>
            <a:br/>
            <a:r>
              <a:t>Rain / snow</a:t>
            </a:r>
            <a:br/>
            <a:r>
              <a:t>Thunderstorm code</a:t>
            </a:r>
            <a:br/>
            <a:r>
              <a:t>Wind speed</a:t>
            </a:r>
            <a:br/>
            <a:r>
              <a:t>Sunny + hot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417320"/>
            <a:ext cx="3310128" cy="1938528"/>
          </a:xfrm>
          <a:prstGeom prst="roundRect">
            <a:avLst/>
          </a:prstGeom>
          <a:solidFill>
            <a:srgbClr val="173754"/>
          </a:solidFill>
          <a:ln>
            <a:solidFill>
              <a:srgbClr val="375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1688" y="1417320"/>
            <a:ext cx="73152" cy="1938528"/>
          </a:xfrm>
          <a:prstGeom prst="rect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5" y="15819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Decision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5" y="1947672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DEEBF5"/>
                </a:solidFill>
                <a:latin typeface="Aptos"/>
              </a:defRPr>
            </a:pPr>
            <a:r>
              <a:t>Rule-based local agent checks weather values and selects practical clothing advice.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417320"/>
            <a:ext cx="3310128" cy="1938528"/>
          </a:xfrm>
          <a:prstGeom prst="roundRect">
            <a:avLst/>
          </a:prstGeom>
          <a:solidFill>
            <a:srgbClr val="173754"/>
          </a:solidFill>
          <a:ln>
            <a:solidFill>
              <a:srgbClr val="375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5008" y="1417320"/>
            <a:ext cx="73152" cy="1938528"/>
          </a:xfrm>
          <a:prstGeom prst="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5819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Output advice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1947672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DEEBF5"/>
                </a:solidFill>
                <a:latin typeface="Aptos"/>
              </a:defRPr>
            </a:pPr>
            <a:r>
              <a:t>Winter coat, hoodie, raincoat, waterproof shoes, sunglasses, sunscreen or windbreaker.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25196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FFFFFF"/>
                </a:solidFill>
                <a:latin typeface="Aptos"/>
              </a:defRPr>
            </a:pPr>
            <a:r>
              <a:t>✓ No LLM API key is required for the final demo</a:t>
            </a:r>
          </a:p>
          <a:p>
            <a:pPr>
              <a:spcAft>
                <a:spcPts val="600"/>
              </a:spcAft>
              <a:defRPr sz="1550">
                <a:solidFill>
                  <a:srgbClr val="FFFFFF"/>
                </a:solidFill>
                <a:latin typeface="Aptos"/>
              </a:defRPr>
            </a:pPr>
            <a:r>
              <a:t>✓ The module is isolated in OutfitAdvisor.java</a:t>
            </a:r>
          </a:p>
          <a:p>
            <a:pPr>
              <a:spcAft>
                <a:spcPts val="600"/>
              </a:spcAft>
              <a:defRPr sz="1550">
                <a:solidFill>
                  <a:srgbClr val="FFFFFF"/>
                </a:solidFill>
                <a:latin typeface="Aptos"/>
              </a:defRPr>
            </a:pPr>
            <a:r>
              <a:t>✓ It can later be replaced by a real LLM API 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57488"/>
                </a:solidFill>
                <a:latin typeface="Aptos"/>
              </a:defRPr>
            </a:pPr>
            <a:r>
              <a:t>Travel Weather Assistant | Zhang Weibin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5748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C2238"/>
                </a:solidFill>
                <a:latin typeface="Aptos"/>
              </a:defRPr>
            </a:pPr>
            <a:r>
              <a:t>Implementation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657488"/>
                </a:solidFill>
                <a:latin typeface="Aptos"/>
              </a:defRPr>
            </a:pPr>
            <a:r>
              <a:t>Main files and responsibilities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34440"/>
            <a:ext cx="2395728" cy="329184"/>
          </a:xfrm>
          <a:prstGeom prst="round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MainActivity.java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289304"/>
            <a:ext cx="7406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1C293A"/>
                </a:solidFill>
                <a:latin typeface="Aptos"/>
              </a:defRPr>
            </a:pPr>
            <a:r>
              <a:t>UI logic, permissions, API callbacks, notifications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2395728" cy="329184"/>
          </a:xfrm>
          <a:prstGeom prst="roundRect">
            <a:avLst/>
          </a:prstGeom>
          <a:solidFill>
            <a:srgbClr val="4DB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WeatherRepository.java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929384"/>
            <a:ext cx="7406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1C293A"/>
                </a:solidFill>
                <a:latin typeface="Aptos"/>
              </a:defRPr>
            </a:pPr>
            <a:r>
              <a:t>Retrofit setup and API request methods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14600"/>
            <a:ext cx="2395728" cy="329184"/>
          </a:xfrm>
          <a:prstGeom prst="round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WeatherResponse.java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569464"/>
            <a:ext cx="7406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1C293A"/>
                </a:solidFill>
                <a:latin typeface="Aptos"/>
              </a:defRPr>
            </a:pPr>
            <a:r>
              <a:t>JSON model for current weather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54680"/>
            <a:ext cx="2395728" cy="329184"/>
          </a:xfrm>
          <a:prstGeom prst="roundRect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FavoriteCity*.java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209544"/>
            <a:ext cx="7406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1C293A"/>
                </a:solidFill>
                <a:latin typeface="Aptos"/>
              </a:defRPr>
            </a:pPr>
            <a:r>
              <a:t>Room entity, DAO and 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794760"/>
            <a:ext cx="2395728" cy="329184"/>
          </a:xfrm>
          <a:prstGeom prst="roundRect">
            <a:avLst/>
          </a:prstGeom>
          <a:solidFill>
            <a:srgbClr val="E8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FavoriteCityAdapter.java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849624"/>
            <a:ext cx="7406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1C293A"/>
                </a:solidFill>
                <a:latin typeface="Aptos"/>
              </a:defRPr>
            </a:pPr>
            <a:r>
              <a:t>RecyclerView rows for saved cities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34840"/>
            <a:ext cx="2395728" cy="329184"/>
          </a:xfrm>
          <a:prstGeom prst="round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WeatherInterpreter.java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489704"/>
            <a:ext cx="7406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1C293A"/>
                </a:solidFill>
                <a:latin typeface="Aptos"/>
              </a:defRPr>
            </a:pPr>
            <a:r>
              <a:t>Weather code to text, icon and travel advice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074920"/>
            <a:ext cx="2395728" cy="329184"/>
          </a:xfrm>
          <a:prstGeom prst="round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OutfitAdvisor.java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5129784"/>
            <a:ext cx="7406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1C293A"/>
                </a:solidFill>
                <a:latin typeface="Aptos"/>
              </a:defRPr>
            </a:pPr>
            <a:r>
              <a:t>Weather facts to clothing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57488"/>
                </a:solidFill>
                <a:latin typeface="Aptos"/>
              </a:defRPr>
            </a:pPr>
            <a:r>
              <a:t>Travel Weather Assistant | Zhang Weibin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5748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C2238"/>
                </a:solidFill>
                <a:latin typeface="Aptos"/>
              </a:defRPr>
            </a:pPr>
            <a:r>
              <a:t>Live Demo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657488"/>
                </a:solidFill>
                <a:latin typeface="Aptos"/>
              </a:defRPr>
            </a:pPr>
            <a:r>
              <a:t>Short sequence for final-week presentation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1234440"/>
            <a:ext cx="347472" cy="347472"/>
          </a:xfrm>
          <a:prstGeom prst="ellipse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271016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20" b="0">
                <a:solidFill>
                  <a:srgbClr val="1C293A"/>
                </a:solidFill>
                <a:latin typeface="Aptos"/>
              </a:defRPr>
            </a:pPr>
            <a:r>
              <a:t>Show default Budapest weather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56232"/>
            <a:ext cx="347472" cy="347472"/>
          </a:xfrm>
          <a:prstGeom prst="ellipse">
            <a:avLst/>
          </a:prstGeom>
          <a:solidFill>
            <a:srgbClr val="4DB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89280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20" b="0">
                <a:solidFill>
                  <a:srgbClr val="1C293A"/>
                </a:solidFill>
                <a:latin typeface="Aptos"/>
              </a:defRPr>
            </a:pPr>
            <a:r>
              <a:t>Search Debrecen or another city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478024"/>
            <a:ext cx="347472" cy="347472"/>
          </a:xfrm>
          <a:prstGeom prst="ellipse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514600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20" b="0">
                <a:solidFill>
                  <a:srgbClr val="1C293A"/>
                </a:solidFill>
                <a:latin typeface="Aptos"/>
              </a:defRPr>
            </a:pPr>
            <a:r>
              <a:t>Use GPS weather and explain permission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099816"/>
            <a:ext cx="347472" cy="347472"/>
          </a:xfrm>
          <a:prstGeom prst="ellipse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3136392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20" b="0">
                <a:solidFill>
                  <a:srgbClr val="1C293A"/>
                </a:solidFill>
                <a:latin typeface="Aptos"/>
              </a:defRPr>
            </a:pPr>
            <a:r>
              <a:t>Save a city as favorite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721608"/>
            <a:ext cx="347472" cy="347472"/>
          </a:xfrm>
          <a:prstGeom prst="ellipse">
            <a:avLst/>
          </a:prstGeom>
          <a:solidFill>
            <a:srgbClr val="E8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758184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20" b="0">
                <a:solidFill>
                  <a:srgbClr val="1C293A"/>
                </a:solidFill>
                <a:latin typeface="Aptos"/>
              </a:defRPr>
            </a:pPr>
            <a:r>
              <a:t>Reload and delete a favorite city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343400"/>
            <a:ext cx="347472" cy="347472"/>
          </a:xfrm>
          <a:prstGeom prst="ellipse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4379976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20" b="0">
                <a:solidFill>
                  <a:srgbClr val="1C293A"/>
                </a:solidFill>
                <a:latin typeface="Aptos"/>
              </a:defRPr>
            </a:pPr>
            <a:r>
              <a:t>Explain travel advice and Outfit Advisor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65192"/>
            <a:ext cx="347472" cy="347472"/>
          </a:xfrm>
          <a:prstGeom prst="ellipse">
            <a:avLst/>
          </a:prstGeom>
          <a:solidFill>
            <a:srgbClr val="4DB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50017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20" b="0">
                <a:solidFill>
                  <a:srgbClr val="1C293A"/>
                </a:solidFill>
                <a:latin typeface="Aptos"/>
              </a:defRPr>
            </a:pPr>
            <a:r>
              <a:t>Show notification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57488"/>
                </a:solidFill>
                <a:latin typeface="Aptos"/>
              </a:defRPr>
            </a:pPr>
            <a:r>
              <a:t>Travel Weather Assistant | Zhang Weibin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5748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731520"/>
            <a:ext cx="3383280" cy="3383280"/>
          </a:xfrm>
          <a:prstGeom prst="ellipse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212080"/>
            <a:ext cx="2011680" cy="2011680"/>
          </a:xfrm>
          <a:prstGeom prst="ellipse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F6B84C"/>
                </a:solidFill>
                <a:latin typeface="Aptos"/>
              </a:defRPr>
            </a:pPr>
            <a:r>
              <a:t>Why the project is ready for grade 5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3310128" cy="1783080"/>
          </a:xfrm>
          <a:prstGeom prst="roundRect">
            <a:avLst/>
          </a:prstGeom>
          <a:solidFill>
            <a:srgbClr val="173754"/>
          </a:solidFill>
          <a:ln>
            <a:solidFill>
              <a:srgbClr val="375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73152" cy="1783080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105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Complex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176272"/>
            <a:ext cx="2926080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DEEBF5"/>
                </a:solidFill>
                <a:latin typeface="Aptos"/>
              </a:defRPr>
            </a:pPr>
            <a:r>
              <a:t>UI, GPS, APIs, JSON parsing, Room, RecyclerView and notifications.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45920"/>
            <a:ext cx="3310128" cy="1783080"/>
          </a:xfrm>
          <a:prstGeom prst="roundRect">
            <a:avLst/>
          </a:prstGeom>
          <a:solidFill>
            <a:srgbClr val="173754"/>
          </a:solidFill>
          <a:ln>
            <a:solidFill>
              <a:srgbClr val="375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645920"/>
            <a:ext cx="73152" cy="1783080"/>
          </a:xfrm>
          <a:prstGeom prst="rect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5" y="18105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Third-party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5" y="2176272"/>
            <a:ext cx="2926080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DEEBF5"/>
                </a:solidFill>
                <a:latin typeface="Aptos"/>
              </a:defRPr>
            </a:pPr>
            <a:r>
              <a:t>Open-Meteo APIs, Retrofit, Gson, Room and Material Components.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645920"/>
            <a:ext cx="3310128" cy="1783080"/>
          </a:xfrm>
          <a:prstGeom prst="roundRect">
            <a:avLst/>
          </a:prstGeom>
          <a:solidFill>
            <a:srgbClr val="173754"/>
          </a:solidFill>
          <a:ln>
            <a:solidFill>
              <a:srgbClr val="375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645920"/>
            <a:ext cx="73152" cy="1783080"/>
          </a:xfrm>
          <a:prstGeom prst="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18105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Creative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176272"/>
            <a:ext cx="2926080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DEEBF5"/>
                </a:solidFill>
                <a:latin typeface="Aptos"/>
              </a:defRPr>
            </a:pPr>
            <a:r>
              <a:t>Outfit Advisor turns weather data into personalized clothing advice.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Thank you for your attention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BECFDE"/>
                </a:solidFill>
                <a:latin typeface="Aptos"/>
              </a:defRPr>
            </a:pPr>
            <a:r>
              <a:t>Travel Weather Assistant | Zhang Weibin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BECFDE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