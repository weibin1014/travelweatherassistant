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183879" y="-777240"/>
            <a:ext cx="4389120" cy="4389120"/>
          </a:xfrm>
          <a:prstGeom prst="ellipse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64040" y="3063240"/>
            <a:ext cx="3063240" cy="3063240"/>
          </a:xfrm>
          <a:prstGeom prst="ellipse">
            <a:avLst/>
          </a:prstGeom>
          <a:solidFill>
            <a:srgbClr val="4DB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77240" y="4983480"/>
            <a:ext cx="2377440" cy="2377440"/>
          </a:xfrm>
          <a:prstGeom prst="ellipse">
            <a:avLst/>
          </a:prstGeom>
          <a:solidFill>
            <a:srgbClr val="F6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94960" y="-1143000"/>
            <a:ext cx="2468880" cy="2468880"/>
          </a:xfrm>
          <a:prstGeom prst="ellipse">
            <a:avLst/>
          </a:prstGeom>
          <a:solidFill>
            <a:srgbClr val="49B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02336"/>
            <a:ext cx="658368" cy="2191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44752" y="493776"/>
            <a:ext cx="5669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B0C7DB"/>
                </a:solidFill>
                <a:latin typeface="Aptos Display"/>
              </a:defRPr>
            </a:pPr>
            <a:r>
              <a:t>University of Debrecen · Faculty of Informatics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89888"/>
            <a:ext cx="548640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Aptos Display"/>
              </a:defRPr>
            </a:pPr>
            <a:r>
              <a:t>TripCast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176272"/>
            <a:ext cx="63550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000" b="1">
                <a:solidFill>
                  <a:srgbClr val="F6B84C"/>
                </a:solidFill>
                <a:latin typeface="Aptos Display"/>
              </a:defRPr>
            </a:pPr>
            <a:r>
              <a:t>Smart weather guidance for every trip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70048"/>
            <a:ext cx="6446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50" b="0">
                <a:solidFill>
                  <a:srgbClr val="DCEBF7"/>
                </a:solidFill>
                <a:latin typeface="Aptos Display"/>
              </a:defRPr>
            </a:pPr>
            <a:r>
              <a:t>Real-time forecasts, travel preparation tips, and outfit recommendations in one Android app.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56432"/>
            <a:ext cx="713232" cy="347472"/>
          </a:xfrm>
          <a:prstGeom prst="roundRect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GPS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91056" y="3456432"/>
            <a:ext cx="1572768" cy="347472"/>
          </a:xfrm>
          <a:prstGeom prst="roundRect">
            <a:avLst/>
          </a:prstGeom>
          <a:solidFill>
            <a:srgbClr val="4DB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Open-Meteo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3456432"/>
            <a:ext cx="987552" cy="347472"/>
          </a:xfrm>
          <a:prstGeom prst="roundRect">
            <a:avLst/>
          </a:prstGeom>
          <a:solidFill>
            <a:srgbClr val="49B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Room 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3984" y="3456432"/>
            <a:ext cx="950976" cy="347472"/>
          </a:xfrm>
          <a:prstGeom prst="roundRect">
            <a:avLst/>
          </a:prstGeom>
          <a:solidFill>
            <a:srgbClr val="F6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Retrofit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41264" y="3456432"/>
            <a:ext cx="1444752" cy="347472"/>
          </a:xfrm>
          <a:prstGeom prst="roundRect">
            <a:avLst/>
          </a:prstGeom>
          <a:solidFill>
            <a:srgbClr val="E8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Outfit Advisor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074920"/>
            <a:ext cx="5212080" cy="877824"/>
          </a:xfrm>
          <a:prstGeom prst="roundRect">
            <a:avLst/>
          </a:prstGeom>
          <a:solidFill>
            <a:srgbClr val="163552"/>
          </a:solidFill>
          <a:ln>
            <a:solidFill>
              <a:srgbClr val="3A6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230368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Aptos Display"/>
              </a:defRPr>
            </a:pPr>
            <a:r>
              <a:t>Zhang Weibin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55955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50" b="0">
                <a:solidFill>
                  <a:srgbClr val="B0C7DB"/>
                </a:solidFill>
                <a:latin typeface="Aptos Display"/>
              </a:defRPr>
            </a:pPr>
            <a:r>
              <a:t>Mobile Development Final Project · Grade 5 accepted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1069848"/>
            <a:ext cx="2670048" cy="4736592"/>
          </a:xfrm>
          <a:prstGeom prst="roundRect">
            <a:avLst/>
          </a:prstGeom>
          <a:solidFill>
            <a:srgbClr val="05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882127" y="932688"/>
            <a:ext cx="2670048" cy="4736592"/>
          </a:xfrm>
          <a:prstGeom prst="roundRect">
            <a:avLst/>
          </a:prstGeom>
          <a:solidFill>
            <a:srgbClr val="081424"/>
          </a:solidFill>
          <a:ln>
            <a:solidFill>
              <a:srgbClr val="4D7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37575" y="1170432"/>
            <a:ext cx="2359152" cy="4279392"/>
          </a:xfrm>
          <a:prstGeom prst="roundRect">
            <a:avLst/>
          </a:prstGeom>
          <a:solidFill>
            <a:srgbClr val="EF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47888" y="1417320"/>
            <a:ext cx="1005840" cy="347472"/>
          </a:xfrm>
          <a:prstGeom prst="roundRect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Budapest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1856231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1">
                <a:solidFill>
                  <a:srgbClr val="0C2238"/>
                </a:solidFill>
                <a:latin typeface="Aptos Display"/>
              </a:defRPr>
            </a:pPr>
            <a:r>
              <a:t>☀ 22.4°C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5" y="2221992"/>
            <a:ext cx="187451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0">
                <a:solidFill>
                  <a:srgbClr val="617488"/>
                </a:solidFill>
                <a:latin typeface="Aptos Display"/>
              </a:defRPr>
            </a:pPr>
            <a:r>
              <a:t>Clear sky · Wind 8 km/h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11312" y="2633472"/>
            <a:ext cx="20116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7" y="2724912"/>
            <a:ext cx="16459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80" b="1">
                <a:solidFill>
                  <a:srgbClr val="0C2238"/>
                </a:solidFill>
                <a:latin typeface="Aptos Display"/>
              </a:defRPr>
            </a:pPr>
            <a:r>
              <a:t>Travel advice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7" y="2916936"/>
            <a:ext cx="17373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20" b="0">
                <a:solidFill>
                  <a:srgbClr val="1C293A"/>
                </a:solidFill>
                <a:latin typeface="Aptos Display"/>
              </a:defRPr>
            </a:pPr>
            <a:r>
              <a:t>Carry water and use sunscreen.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11312" y="3401568"/>
            <a:ext cx="2011680" cy="566928"/>
          </a:xfrm>
          <a:prstGeom prst="roundRect">
            <a:avLst/>
          </a:prstGeom>
          <a:solidFill>
            <a:srgbClr val="D9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9327" y="3493008"/>
            <a:ext cx="16459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80" b="1">
                <a:solidFill>
                  <a:srgbClr val="0C2238"/>
                </a:solidFill>
                <a:latin typeface="Aptos Display"/>
              </a:defRPr>
            </a:pPr>
            <a:r>
              <a:t>Outfit Advisor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7" y="3685032"/>
            <a:ext cx="17373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20" b="0">
                <a:solidFill>
                  <a:srgbClr val="1C293A"/>
                </a:solidFill>
                <a:latin typeface="Aptos Display"/>
              </a:defRPr>
            </a:pPr>
            <a:r>
              <a:t>Light clothes + sunglasses.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11312" y="4261104"/>
            <a:ext cx="2011680" cy="566928"/>
          </a:xfrm>
          <a:prstGeom prst="roundRect">
            <a:avLst/>
          </a:prstGeom>
          <a:solidFill>
            <a:srgbClr val="E6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9327" y="4352544"/>
            <a:ext cx="164592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80" b="1">
                <a:solidFill>
                  <a:srgbClr val="0C2238"/>
                </a:solidFill>
                <a:latin typeface="Aptos Display"/>
              </a:defRPr>
            </a:pPr>
            <a:r>
              <a:t>Favorites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7" y="4544568"/>
            <a:ext cx="17373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20" b="0">
                <a:solidFill>
                  <a:srgbClr val="1C293A"/>
                </a:solidFill>
                <a:latin typeface="Aptos Display"/>
              </a:defRPr>
            </a:pPr>
            <a:r>
              <a:t>Save and reload cities.</a:t>
            </a:r>
          </a:p>
        </p:txBody>
      </p:sp>
      <p:sp>
        <p:nvSpPr>
          <p:cNvPr id="34" name="Cloud 33"/>
          <p:cNvSpPr/>
          <p:nvPr/>
        </p:nvSpPr>
        <p:spPr>
          <a:xfrm>
            <a:off x="9930384" y="749808"/>
            <a:ext cx="1051560" cy="621792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un 34"/>
          <p:cNvSpPr/>
          <p:nvPr/>
        </p:nvSpPr>
        <p:spPr>
          <a:xfrm>
            <a:off x="9582912" y="566928"/>
            <a:ext cx="530352" cy="530352"/>
          </a:xfrm>
          <a:prstGeom prst="sun">
            <a:avLst/>
          </a:prstGeom>
          <a:solidFill>
            <a:srgbClr val="F6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8961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0C2238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0">
                <a:solidFill>
                  <a:srgbClr val="657488"/>
                </a:solidFill>
                <a:latin typeface="Aptos"/>
              </a:defRPr>
            </a:pPr>
            <a:r>
              <a:t>A practical Android app accepted for grade 5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331012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9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73152" cy="1874519"/>
          </a:xfrm>
          <a:prstGeom prst="rect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58191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C2238"/>
                </a:solidFill>
                <a:latin typeface="Aptos"/>
              </a:defRPr>
            </a:pPr>
            <a:r>
              <a:t>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947672"/>
            <a:ext cx="2926080" cy="1216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1C293A"/>
                </a:solidFill>
                <a:latin typeface="Aptos"/>
              </a:defRPr>
            </a:pPr>
            <a:r>
              <a:t>Help users quickly understand current weather and prepare before going outside.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417320"/>
            <a:ext cx="331012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9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1688" y="1417320"/>
            <a:ext cx="73152" cy="1874519"/>
          </a:xfrm>
          <a:prstGeom prst="rect">
            <a:avLst/>
          </a:prstGeom>
          <a:solidFill>
            <a:srgbClr val="49B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5" y="158191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C2238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5" y="1947672"/>
            <a:ext cx="2926080" cy="1216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1C293A"/>
                </a:solidFill>
                <a:latin typeface="Aptos"/>
              </a:defRPr>
            </a:pPr>
            <a:r>
              <a:t>Combine live weather data, GPS location, saved cities and advice generation.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417320"/>
            <a:ext cx="331012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9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5008" y="1417320"/>
            <a:ext cx="73152" cy="1874519"/>
          </a:xfrm>
          <a:prstGeom prst="rect">
            <a:avLst/>
          </a:prstGeom>
          <a:solidFill>
            <a:srgbClr val="F6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158191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C2238"/>
                </a:solidFill>
                <a:latin typeface="Aptos"/>
              </a:defRPr>
            </a:pPr>
            <a:r>
              <a:t>Creative part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1947672"/>
            <a:ext cx="2926080" cy="1216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1C293A"/>
                </a:solidFill>
                <a:latin typeface="Aptos"/>
              </a:defRPr>
            </a:pPr>
            <a:r>
              <a:t>Outfit Advisor recommends clothing based on weather facts.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886200"/>
            <a:ext cx="9966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C293A"/>
                </a:solidFill>
                <a:latin typeface="Aptos"/>
              </a:defRPr>
            </a:pPr>
            <a:r>
              <a:t>✓ Real API data from Open-Meteo</a:t>
            </a:r>
          </a:p>
          <a:p>
            <a:pPr>
              <a:spcAft>
                <a:spcPts val="600"/>
              </a:spcAft>
              <a:defRPr sz="1600">
                <a:solidFill>
                  <a:srgbClr val="1C293A"/>
                </a:solidFill>
                <a:latin typeface="Aptos"/>
              </a:defRPr>
            </a:pPr>
            <a:r>
              <a:t>✓ Works without a paid weather or LLM API key</a:t>
            </a:r>
          </a:p>
          <a:p>
            <a:pPr>
              <a:spcAft>
                <a:spcPts val="600"/>
              </a:spcAft>
              <a:defRPr sz="1600">
                <a:solidFill>
                  <a:srgbClr val="1C293A"/>
                </a:solidFill>
                <a:latin typeface="Aptos"/>
              </a:defRPr>
            </a:pPr>
            <a:r>
              <a:t>✓ Demonstrates Android UI, storage, network and location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547104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0">
                <a:solidFill>
                  <a:srgbClr val="657488"/>
                </a:solidFill>
                <a:latin typeface="Aptos"/>
              </a:defRPr>
            </a:pPr>
            <a:r>
              <a:t>TripCast | Zhang Weibin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47104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657488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8961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0C2238"/>
                </a:solidFill>
                <a:latin typeface="Aptos"/>
              </a:defRPr>
            </a:pPr>
            <a:r>
              <a:t>Main App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0">
                <a:solidFill>
                  <a:srgbClr val="657488"/>
                </a:solidFill>
                <a:latin typeface="Aptos"/>
              </a:defRPr>
            </a:pPr>
            <a:r>
              <a:t>What the user can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25880"/>
            <a:ext cx="333756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9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325880"/>
            <a:ext cx="73152" cy="1298448"/>
          </a:xfrm>
          <a:prstGeom prst="rect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490472"/>
            <a:ext cx="295351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C2238"/>
                </a:solidFill>
                <a:latin typeface="Aptos"/>
              </a:defRPr>
            </a:pPr>
            <a:r>
              <a:t>City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856231"/>
            <a:ext cx="29535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1C293A"/>
                </a:solidFill>
                <a:latin typeface="Aptos"/>
              </a:defRPr>
            </a:pPr>
            <a:r>
              <a:t>Search any city and load live weather.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33756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9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25880"/>
            <a:ext cx="73152" cy="1298448"/>
          </a:xfrm>
          <a:prstGeom prst="rect">
            <a:avLst/>
          </a:prstGeom>
          <a:solidFill>
            <a:srgbClr val="4DB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490472"/>
            <a:ext cx="295351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C2238"/>
                </a:solidFill>
                <a:latin typeface="Aptos"/>
              </a:defRPr>
            </a:pPr>
            <a:r>
              <a:t>GPS Weather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856231"/>
            <a:ext cx="29535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1C293A"/>
                </a:solidFill>
                <a:latin typeface="Aptos"/>
              </a:defRPr>
            </a:pPr>
            <a:r>
              <a:t>Use phone location for local weather.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325880"/>
            <a:ext cx="333756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9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9872" y="1325880"/>
            <a:ext cx="73152" cy="1298448"/>
          </a:xfrm>
          <a:prstGeom prst="rect">
            <a:avLst/>
          </a:prstGeom>
          <a:solidFill>
            <a:srgbClr val="49B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490472"/>
            <a:ext cx="295351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C2238"/>
                </a:solidFill>
                <a:latin typeface="Aptos"/>
              </a:defRPr>
            </a:pPr>
            <a:r>
              <a:t>Favorites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856231"/>
            <a:ext cx="29535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1C293A"/>
                </a:solidFill>
                <a:latin typeface="Aptos"/>
              </a:defRPr>
            </a:pPr>
            <a:r>
              <a:t>Save, reload and delete favorite cities.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108960"/>
            <a:ext cx="333756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9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108960"/>
            <a:ext cx="73152" cy="1298448"/>
          </a:xfrm>
          <a:prstGeom prst="rect">
            <a:avLst/>
          </a:prstGeom>
          <a:solidFill>
            <a:srgbClr val="F6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273552"/>
            <a:ext cx="295351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C2238"/>
                </a:solidFill>
                <a:latin typeface="Aptos"/>
              </a:defRPr>
            </a:pPr>
            <a:r>
              <a:t>Travel Advice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3639312"/>
            <a:ext cx="29535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1C293A"/>
                </a:solidFill>
                <a:latin typeface="Aptos"/>
              </a:defRPr>
            </a:pPr>
            <a:r>
              <a:t>Generate preparation tips from weather.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108960"/>
            <a:ext cx="333756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9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108960"/>
            <a:ext cx="73152" cy="1298448"/>
          </a:xfrm>
          <a:prstGeom prst="rect">
            <a:avLst/>
          </a:prstGeom>
          <a:solidFill>
            <a:srgbClr val="E8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0288" y="3273552"/>
            <a:ext cx="295351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C2238"/>
                </a:solidFill>
                <a:latin typeface="Aptos"/>
              </a:defRPr>
            </a:pPr>
            <a:r>
              <a:t>Outfit Advisor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639312"/>
            <a:ext cx="29535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1C293A"/>
                </a:solidFill>
                <a:latin typeface="Aptos"/>
              </a:defRPr>
            </a:pPr>
            <a:r>
              <a:t>Recommend clothing for current conditions.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19872" y="3108960"/>
            <a:ext cx="333756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9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19872" y="3108960"/>
            <a:ext cx="73152" cy="1298448"/>
          </a:xfrm>
          <a:prstGeom prst="rect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273552"/>
            <a:ext cx="295351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C2238"/>
                </a:solidFill>
                <a:latin typeface="Aptos"/>
              </a:defRPr>
            </a:pPr>
            <a:r>
              <a:t>Notification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639312"/>
            <a:ext cx="29535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1C293A"/>
                </a:solidFill>
                <a:latin typeface="Aptos"/>
              </a:defRPr>
            </a:pPr>
            <a:r>
              <a:t>Show advice outside the app screen.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547104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0">
                <a:solidFill>
                  <a:srgbClr val="657488"/>
                </a:solidFill>
                <a:latin typeface="Aptos"/>
              </a:defRPr>
            </a:pPr>
            <a:r>
              <a:t>TripCast | Zhang Weibin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547104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657488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961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0">
                <a:solidFill>
                  <a:srgbClr val="F6B84C"/>
                </a:solidFill>
                <a:latin typeface="Aptos"/>
              </a:defRPr>
            </a:pPr>
            <a:r>
              <a:t>Clean separation between UI, API, database and advice logic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74519"/>
            <a:ext cx="1965960" cy="658368"/>
          </a:xfrm>
          <a:prstGeom prst="roundRect">
            <a:avLst/>
          </a:prstGeom>
          <a:solidFill>
            <a:srgbClr val="173754"/>
          </a:solidFill>
          <a:ln>
            <a:solidFill>
              <a:srgbClr val="4DB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MainActivity</a:t>
            </a:r>
            <a:br/>
            <a:r>
              <a:t>UI + events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624328" y="2203703"/>
            <a:ext cx="384048" cy="0"/>
          </a:xfrm>
          <a:prstGeom prst="line">
            <a:avLst/>
          </a:prstGeom>
          <a:ln w="25400">
            <a:solidFill>
              <a:srgbClr val="F6B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008376" y="1874519"/>
            <a:ext cx="1965960" cy="658368"/>
          </a:xfrm>
          <a:prstGeom prst="roundRect">
            <a:avLst/>
          </a:prstGeom>
          <a:solidFill>
            <a:srgbClr val="173754"/>
          </a:solidFill>
          <a:ln>
            <a:solidFill>
              <a:srgbClr val="4DB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WeatherRepository</a:t>
            </a:r>
            <a:br/>
            <a:r>
              <a:t>API layer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974336" y="2203703"/>
            <a:ext cx="384047" cy="0"/>
          </a:xfrm>
          <a:prstGeom prst="line">
            <a:avLst/>
          </a:prstGeom>
          <a:ln w="25400">
            <a:solidFill>
              <a:srgbClr val="F6B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358383" y="1874519"/>
            <a:ext cx="1965960" cy="658368"/>
          </a:xfrm>
          <a:prstGeom prst="roundRect">
            <a:avLst/>
          </a:prstGeom>
          <a:solidFill>
            <a:srgbClr val="173754"/>
          </a:solidFill>
          <a:ln>
            <a:solidFill>
              <a:srgbClr val="4DB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Retrofit + Gson</a:t>
            </a:r>
            <a:br/>
            <a:r>
              <a:t>JSON parsing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24344" y="2203703"/>
            <a:ext cx="384048" cy="0"/>
          </a:xfrm>
          <a:prstGeom prst="line">
            <a:avLst/>
          </a:prstGeom>
          <a:ln w="25400">
            <a:solidFill>
              <a:srgbClr val="F6B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708392" y="1874519"/>
            <a:ext cx="1965960" cy="658368"/>
          </a:xfrm>
          <a:prstGeom prst="roundRect">
            <a:avLst/>
          </a:prstGeom>
          <a:solidFill>
            <a:srgbClr val="173754"/>
          </a:solidFill>
          <a:ln>
            <a:solidFill>
              <a:srgbClr val="4DB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Open-Meteo</a:t>
            </a:r>
            <a:br/>
            <a:r>
              <a:t>Weather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40480"/>
            <a:ext cx="1965960" cy="658368"/>
          </a:xfrm>
          <a:prstGeom prst="roundRect">
            <a:avLst/>
          </a:prstGeom>
          <a:solidFill>
            <a:srgbClr val="173754"/>
          </a:solidFill>
          <a:ln>
            <a:solidFill>
              <a:srgbClr val="4DB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FavoriteCity</a:t>
            </a:r>
            <a:br/>
            <a:r>
              <a:t>Entity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24328" y="4169664"/>
            <a:ext cx="384048" cy="0"/>
          </a:xfrm>
          <a:prstGeom prst="line">
            <a:avLst/>
          </a:prstGeom>
          <a:ln w="25400">
            <a:solidFill>
              <a:srgbClr val="F6B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008376" y="3840480"/>
            <a:ext cx="1965960" cy="658368"/>
          </a:xfrm>
          <a:prstGeom prst="roundRect">
            <a:avLst/>
          </a:prstGeom>
          <a:solidFill>
            <a:srgbClr val="173754"/>
          </a:solidFill>
          <a:ln>
            <a:solidFill>
              <a:srgbClr val="4DB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FavoriteCityDao</a:t>
            </a:r>
            <a:br/>
            <a:r>
              <a:t>Queries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74336" y="4169664"/>
            <a:ext cx="384047" cy="0"/>
          </a:xfrm>
          <a:prstGeom prst="line">
            <a:avLst/>
          </a:prstGeom>
          <a:ln w="25400">
            <a:solidFill>
              <a:srgbClr val="F6B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358383" y="3840480"/>
            <a:ext cx="1965960" cy="658368"/>
          </a:xfrm>
          <a:prstGeom prst="roundRect">
            <a:avLst/>
          </a:prstGeom>
          <a:solidFill>
            <a:srgbClr val="173754"/>
          </a:solidFill>
          <a:ln>
            <a:solidFill>
              <a:srgbClr val="4DB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Room Database</a:t>
            </a:r>
            <a:br/>
            <a:r>
              <a:t>Local storage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24344" y="4169664"/>
            <a:ext cx="384048" cy="0"/>
          </a:xfrm>
          <a:prstGeom prst="line">
            <a:avLst/>
          </a:prstGeom>
          <a:ln w="25400">
            <a:solidFill>
              <a:srgbClr val="F6B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708392" y="3840480"/>
            <a:ext cx="1965960" cy="658368"/>
          </a:xfrm>
          <a:prstGeom prst="roundRect">
            <a:avLst/>
          </a:prstGeom>
          <a:solidFill>
            <a:srgbClr val="173754"/>
          </a:solidFill>
          <a:ln>
            <a:solidFill>
              <a:srgbClr val="4DB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RecyclerView</a:t>
            </a:r>
            <a:br/>
            <a:r>
              <a:t>Favorite list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46920" y="1874519"/>
            <a:ext cx="1874519" cy="2624328"/>
          </a:xfrm>
          <a:prstGeom prst="roundRect">
            <a:avLst/>
          </a:prstGeom>
          <a:solidFill>
            <a:srgbClr val="173754"/>
          </a:solidFill>
          <a:ln>
            <a:solidFill>
              <a:srgbClr val="375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646920" y="1874519"/>
            <a:ext cx="73152" cy="2624328"/>
          </a:xfrm>
          <a:prstGeom prst="rect">
            <a:avLst/>
          </a:prstGeom>
          <a:solidFill>
            <a:srgbClr val="49B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48088" y="2039112"/>
            <a:ext cx="149047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Advice modules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48088" y="2404872"/>
            <a:ext cx="1490472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DEEBF5"/>
                </a:solidFill>
                <a:latin typeface="Aptos"/>
              </a:defRPr>
            </a:pPr>
            <a:r>
              <a:t>WeatherInterpreter creates travel advice. OutfitAdvisor creates clothing recommendations.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547104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0">
                <a:solidFill>
                  <a:srgbClr val="657488"/>
                </a:solidFill>
                <a:latin typeface="Aptos"/>
              </a:defRPr>
            </a:pPr>
            <a:r>
              <a:t>TripCast | Zhang Weibin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547104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657488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8961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0C2238"/>
                </a:solidFill>
                <a:latin typeface="Aptos"/>
              </a:defRPr>
            </a:pPr>
            <a:r>
              <a:t>Weather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0">
                <a:solidFill>
                  <a:srgbClr val="657488"/>
                </a:solidFill>
                <a:latin typeface="Aptos"/>
              </a:defRPr>
            </a:pPr>
            <a:r>
              <a:t>From user input to practical advice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83080"/>
            <a:ext cx="166420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1E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defRPr sz="1050" b="1">
                <a:solidFill>
                  <a:srgbClr val="0C2238"/>
                </a:solidFill>
              </a:defRPr>
            </a:pPr>
            <a:r>
              <a:t>City name</a:t>
            </a:r>
            <a:br/>
            <a:r>
              <a:t>or GPS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78608" y="2139696"/>
            <a:ext cx="347472" cy="0"/>
          </a:xfrm>
          <a:prstGeom prst="line">
            <a:avLst/>
          </a:prstGeom>
          <a:ln w="25400">
            <a:solidFill>
              <a:srgbClr val="F6B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926080" y="1783080"/>
            <a:ext cx="166420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1E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defRPr sz="1050" b="1">
                <a:solidFill>
                  <a:srgbClr val="0C2238"/>
                </a:solidFill>
              </a:defRPr>
            </a:pPr>
            <a:r>
              <a:t>Latitude +</a:t>
            </a:r>
            <a:br/>
            <a:r>
              <a:t>longitude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90288" y="2139696"/>
            <a:ext cx="347472" cy="0"/>
          </a:xfrm>
          <a:prstGeom prst="line">
            <a:avLst/>
          </a:prstGeom>
          <a:ln w="25400">
            <a:solidFill>
              <a:srgbClr val="F6B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937760" y="1783080"/>
            <a:ext cx="166420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1E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defRPr sz="1050" b="1">
                <a:solidFill>
                  <a:srgbClr val="0C2238"/>
                </a:solidFill>
              </a:defRPr>
            </a:pPr>
            <a:r>
              <a:t>Weather API</a:t>
            </a:r>
            <a:br/>
            <a:r>
              <a:t>JSON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601968" y="2139696"/>
            <a:ext cx="347472" cy="0"/>
          </a:xfrm>
          <a:prstGeom prst="line">
            <a:avLst/>
          </a:prstGeom>
          <a:ln w="25400">
            <a:solidFill>
              <a:srgbClr val="F6B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0" y="1783080"/>
            <a:ext cx="166420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1E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defRPr sz="1050" b="1">
                <a:solidFill>
                  <a:srgbClr val="0C2238"/>
                </a:solidFill>
              </a:defRPr>
            </a:pPr>
            <a:r>
              <a:t>Java model</a:t>
            </a:r>
            <a:br/>
            <a:r>
              <a:t>objects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13648" y="2139696"/>
            <a:ext cx="347472" cy="0"/>
          </a:xfrm>
          <a:prstGeom prst="line">
            <a:avLst/>
          </a:prstGeom>
          <a:ln w="25400">
            <a:solidFill>
              <a:srgbClr val="F6B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961120" y="1783080"/>
            <a:ext cx="166420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1E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defRPr sz="1050" b="1">
                <a:solidFill>
                  <a:srgbClr val="0C2238"/>
                </a:solidFill>
              </a:defRPr>
            </a:pPr>
            <a:r>
              <a:t>Advice +</a:t>
            </a:r>
            <a:br/>
            <a:r>
              <a:t>UI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4290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3429000"/>
            <a:ext cx="73152" cy="1417320"/>
          </a:xfrm>
          <a:prstGeom prst="rect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3593592"/>
            <a:ext cx="286207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C2238"/>
                </a:solidFill>
                <a:latin typeface="Aptos"/>
              </a:defRPr>
            </a:pPr>
            <a:r>
              <a:t>1. Geocoding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3959352"/>
            <a:ext cx="2862072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1C293A"/>
                </a:solidFill>
                <a:latin typeface="Aptos"/>
              </a:defRPr>
            </a:pPr>
            <a:r>
              <a:t>City name is converted into latitude and longitude.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34290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3429000"/>
            <a:ext cx="73152" cy="1417320"/>
          </a:xfrm>
          <a:prstGeom prst="rect">
            <a:avLst/>
          </a:prstGeom>
          <a:solidFill>
            <a:srgbClr val="4DB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81728" y="3593592"/>
            <a:ext cx="286207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C2238"/>
                </a:solidFill>
                <a:latin typeface="Aptos"/>
              </a:defRPr>
            </a:pPr>
            <a:r>
              <a:t>2. Weather request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1728" y="3959352"/>
            <a:ext cx="2862072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1C293A"/>
                </a:solidFill>
                <a:latin typeface="Aptos"/>
              </a:defRPr>
            </a:pPr>
            <a:r>
              <a:t>Coordinates are sent to Open-Meteo Weather API.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34290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9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2440" y="3429000"/>
            <a:ext cx="73152" cy="1417320"/>
          </a:xfrm>
          <a:prstGeom prst="rect">
            <a:avLst/>
          </a:prstGeom>
          <a:solidFill>
            <a:srgbClr val="49B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3608" y="3593592"/>
            <a:ext cx="286207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C2238"/>
                </a:solidFill>
                <a:latin typeface="Aptos"/>
              </a:defRPr>
            </a:pPr>
            <a:r>
              <a:t>3. Interpretation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8" y="3959352"/>
            <a:ext cx="2862072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1C293A"/>
                </a:solidFill>
                <a:latin typeface="Aptos"/>
              </a:defRPr>
            </a:pPr>
            <a:r>
              <a:t>Raw values become weather, travel and outfit advice.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547104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0">
                <a:solidFill>
                  <a:srgbClr val="657488"/>
                </a:solidFill>
                <a:latin typeface="Aptos"/>
              </a:defRPr>
            </a:pPr>
            <a:r>
              <a:t>TripCast | Zhang Weibin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547104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657488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8961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0C2238"/>
                </a:solidFill>
                <a:latin typeface="Aptos"/>
              </a:defRPr>
            </a:pPr>
            <a:r>
              <a:t>API and Network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0">
                <a:solidFill>
                  <a:srgbClr val="657488"/>
                </a:solidFill>
                <a:latin typeface="Aptos"/>
              </a:defRPr>
            </a:pPr>
            <a:r>
              <a:t>Third-party data integrated with Retrofit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25880"/>
            <a:ext cx="331012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325880"/>
            <a:ext cx="73152" cy="1828800"/>
          </a:xfrm>
          <a:prstGeom prst="rect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49047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C2238"/>
                </a:solidFill>
                <a:latin typeface="Aptos"/>
              </a:defRPr>
            </a:pPr>
            <a:r>
              <a:t>Open-Meteo Weather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856231"/>
            <a:ext cx="2926080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1C293A"/>
                </a:solidFill>
                <a:latin typeface="Aptos"/>
              </a:defRPr>
            </a:pPr>
            <a:r>
              <a:t>Temperature, apparent temperature, humidity, rain, wind speed and weather code.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325880"/>
            <a:ext cx="331012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1688" y="1325880"/>
            <a:ext cx="73152" cy="1828800"/>
          </a:xfrm>
          <a:prstGeom prst="rect">
            <a:avLst/>
          </a:prstGeom>
          <a:solidFill>
            <a:srgbClr val="F6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5" y="149047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C2238"/>
                </a:solidFill>
                <a:latin typeface="Aptos"/>
              </a:defRPr>
            </a:pPr>
            <a:r>
              <a:t>Geocoding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5" y="1856231"/>
            <a:ext cx="2926080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1C293A"/>
                </a:solidFill>
                <a:latin typeface="Aptos"/>
              </a:defRPr>
            </a:pPr>
            <a:r>
              <a:t>Converts city names into coordinates and country information.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325880"/>
            <a:ext cx="331012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5008" y="1325880"/>
            <a:ext cx="73152" cy="1828800"/>
          </a:xfrm>
          <a:prstGeom prst="rect">
            <a:avLst/>
          </a:prstGeom>
          <a:solidFill>
            <a:srgbClr val="49B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149047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C2238"/>
                </a:solidFill>
                <a:latin typeface="Aptos"/>
              </a:defRPr>
            </a:pPr>
            <a:r>
              <a:t>Retrofit + Gson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1856231"/>
            <a:ext cx="2926080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1C293A"/>
                </a:solidFill>
                <a:latin typeface="Aptos"/>
              </a:defRPr>
            </a:pPr>
            <a:r>
              <a:t>Retrofit defines endpoints. Gson maps JSON into Java response classes.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160520"/>
            <a:ext cx="10874959" cy="804672"/>
          </a:xfrm>
          <a:prstGeom prst="roundRect">
            <a:avLst/>
          </a:prstGeom>
          <a:solidFill>
            <a:srgbClr val="192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416552"/>
            <a:ext cx="1036289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20" b="0">
                <a:solidFill>
                  <a:srgbClr val="FFFFFF"/>
                </a:solidFill>
                <a:latin typeface="Menlo"/>
              </a:defRPr>
            </a:pPr>
            <a:r>
              <a:t>fetchWeather(latitude, longitude)  -&gt;  WeatherApiService.getCurrentWeather(...)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547104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0">
                <a:solidFill>
                  <a:srgbClr val="657488"/>
                </a:solidFill>
                <a:latin typeface="Aptos"/>
              </a:defRPr>
            </a:pPr>
            <a:r>
              <a:t>TripCast | Zhang Weibin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47104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657488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8961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0C2238"/>
                </a:solidFill>
                <a:latin typeface="Aptos"/>
              </a:defRPr>
            </a:pPr>
            <a:r>
              <a:t>Location and Permission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0">
                <a:solidFill>
                  <a:srgbClr val="657488"/>
                </a:solidFill>
                <a:latin typeface="Aptos"/>
              </a:defRPr>
            </a:pPr>
            <a:r>
              <a:t>Safe access to current-location weather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60350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20">
                <a:solidFill>
                  <a:srgbClr val="1C293A"/>
                </a:solidFill>
                <a:latin typeface="Aptos"/>
              </a:defRPr>
            </a:pPr>
            <a:r>
              <a:t>✓ Location permissions are declared in AndroidManifest.xml</a:t>
            </a:r>
          </a:p>
          <a:p>
            <a:pPr>
              <a:spcAft>
                <a:spcPts val="600"/>
              </a:spcAft>
              <a:defRPr sz="1520">
                <a:solidFill>
                  <a:srgbClr val="1C293A"/>
                </a:solidFill>
                <a:latin typeface="Aptos"/>
              </a:defRPr>
            </a:pPr>
            <a:r>
              <a:t>✓ Runtime permission is requested only after pressing the GPS button</a:t>
            </a:r>
          </a:p>
          <a:p>
            <a:pPr>
              <a:spcAft>
                <a:spcPts val="600"/>
              </a:spcAft>
              <a:defRPr sz="1520">
                <a:solidFill>
                  <a:srgbClr val="1C293A"/>
                </a:solidFill>
                <a:latin typeface="Aptos"/>
              </a:defRPr>
            </a:pPr>
            <a:r>
              <a:t>✓ The app checks last known location first for speed and battery efficiency</a:t>
            </a:r>
          </a:p>
          <a:p>
            <a:pPr>
              <a:spcAft>
                <a:spcPts val="600"/>
              </a:spcAft>
              <a:defRPr sz="1520">
                <a:solidFill>
                  <a:srgbClr val="1C293A"/>
                </a:solidFill>
                <a:latin typeface="Aptos"/>
              </a:defRPr>
            </a:pPr>
            <a:r>
              <a:t>✓ Manual city search still works if location permission is denied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444752"/>
            <a:ext cx="3886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9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1444752"/>
            <a:ext cx="73152" cy="1234440"/>
          </a:xfrm>
          <a:prstGeom prst="rect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16368" y="1609344"/>
            <a:ext cx="350215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C2238"/>
                </a:solidFill>
                <a:latin typeface="Aptos"/>
              </a:defRPr>
            </a:pPr>
            <a:r>
              <a:t>Key Android APIs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16368" y="1975104"/>
            <a:ext cx="3502152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1C293A"/>
                </a:solidFill>
                <a:latin typeface="Aptos"/>
              </a:defRPr>
            </a:pPr>
            <a:r>
              <a:t>LocationManager · ActivityResultLauncher · Runtime permissions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035808"/>
            <a:ext cx="3886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9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3035808"/>
            <a:ext cx="73152" cy="1234440"/>
          </a:xfrm>
          <a:prstGeom prst="rect">
            <a:avLst/>
          </a:prstGeom>
          <a:solidFill>
            <a:srgbClr val="49B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3200400"/>
            <a:ext cx="350215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C2238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3566160"/>
            <a:ext cx="3502152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1C293A"/>
                </a:solidFill>
                <a:latin typeface="Aptos"/>
              </a:defRPr>
            </a:pPr>
            <a:r>
              <a:t>The same weather-loading method works for both city search and GPS coordinates.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617720"/>
            <a:ext cx="38862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9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0" y="4617720"/>
            <a:ext cx="73152" cy="868680"/>
          </a:xfrm>
          <a:prstGeom prst="rect">
            <a:avLst/>
          </a:prstGeom>
          <a:solidFill>
            <a:srgbClr val="F6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16368" y="4782312"/>
            <a:ext cx="350215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C2238"/>
                </a:solidFill>
                <a:latin typeface="Aptos"/>
              </a:defRPr>
            </a:pPr>
            <a:r>
              <a:t>User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16368" y="5148072"/>
            <a:ext cx="3502152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1C293A"/>
                </a:solidFill>
                <a:latin typeface="Aptos"/>
              </a:defRPr>
            </a:pPr>
            <a:r>
              <a:t>Location is requested only when needed.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547104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0">
                <a:solidFill>
                  <a:srgbClr val="657488"/>
                </a:solidFill>
                <a:latin typeface="Aptos"/>
              </a:defRPr>
            </a:pPr>
            <a:r>
              <a:t>TripCast | Zhang Weibin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47104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657488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8961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0C2238"/>
                </a:solidFill>
                <a:latin typeface="Aptos"/>
              </a:defRPr>
            </a:pPr>
            <a:r>
              <a:t>Local Storage with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0">
                <a:solidFill>
                  <a:srgbClr val="657488"/>
                </a:solidFill>
                <a:latin typeface="Aptos"/>
              </a:defRPr>
            </a:pPr>
            <a:r>
              <a:t>Favorite cities stay saved on the device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3310128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9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73152" cy="1691640"/>
          </a:xfrm>
          <a:prstGeom prst="rect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58191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C2238"/>
                </a:solidFill>
                <a:latin typeface="Aptos"/>
              </a:defRPr>
            </a:pPr>
            <a:r>
              <a:t>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947672"/>
            <a:ext cx="2926080" cy="1033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1C293A"/>
                </a:solidFill>
                <a:latin typeface="Aptos"/>
              </a:defRPr>
            </a:pPr>
            <a:r>
              <a:t>FavoriteCity represents one saved city row with coordinates and latest weather preview.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417320"/>
            <a:ext cx="3310128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9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1688" y="1417320"/>
            <a:ext cx="73152" cy="1691640"/>
          </a:xfrm>
          <a:prstGeom prst="rect">
            <a:avLst/>
          </a:prstGeom>
          <a:solidFill>
            <a:srgbClr val="F6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5" y="158191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C2238"/>
                </a:solidFill>
                <a:latin typeface="Aptos"/>
              </a:defRPr>
            </a:pPr>
            <a:r>
              <a:t>DAO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5" y="1947672"/>
            <a:ext cx="2926080" cy="1033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1C293A"/>
                </a:solidFill>
                <a:latin typeface="Aptos"/>
              </a:defRPr>
            </a:pPr>
            <a:r>
              <a:t>FavoriteCityDao defines insert, delete, duplicate check and LiveData query.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417320"/>
            <a:ext cx="3310128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9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5008" y="1417320"/>
            <a:ext cx="73152" cy="1691640"/>
          </a:xfrm>
          <a:prstGeom prst="rect">
            <a:avLst/>
          </a:prstGeom>
          <a:solidFill>
            <a:srgbClr val="49B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158191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0C2238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1947672"/>
            <a:ext cx="2926080" cy="1033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1C293A"/>
                </a:solidFill>
                <a:latin typeface="Aptos"/>
              </a:defRPr>
            </a:pPr>
            <a:r>
              <a:t>FavoriteCityDatabase provides the Room database instance.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74519" y="4160520"/>
            <a:ext cx="16459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1E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defRPr sz="1050" b="1">
                <a:solidFill>
                  <a:srgbClr val="0C2238"/>
                </a:solidFill>
              </a:defRPr>
            </a:pPr>
            <a:r>
              <a:t>Save city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520439" y="4471416"/>
            <a:ext cx="329185" cy="0"/>
          </a:xfrm>
          <a:prstGeom prst="line">
            <a:avLst/>
          </a:prstGeom>
          <a:ln w="25400">
            <a:solidFill>
              <a:srgbClr val="F6B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849624" y="4160520"/>
            <a:ext cx="16459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1E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defRPr sz="1050" b="1">
                <a:solidFill>
                  <a:srgbClr val="0C2238"/>
                </a:solidFill>
              </a:defRPr>
            </a:pPr>
            <a:r>
              <a:t>Room insert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95544" y="4471416"/>
            <a:ext cx="329184" cy="0"/>
          </a:xfrm>
          <a:prstGeom prst="line">
            <a:avLst/>
          </a:prstGeom>
          <a:ln w="25400">
            <a:solidFill>
              <a:srgbClr val="F6B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824728" y="4160520"/>
            <a:ext cx="16459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1E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defRPr sz="1050" b="1">
                <a:solidFill>
                  <a:srgbClr val="0C2238"/>
                </a:solidFill>
              </a:defRPr>
            </a:pPr>
            <a:r>
              <a:t>LiveData update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470648" y="4471416"/>
            <a:ext cx="329183" cy="0"/>
          </a:xfrm>
          <a:prstGeom prst="line">
            <a:avLst/>
          </a:prstGeom>
          <a:ln w="25400">
            <a:solidFill>
              <a:srgbClr val="F6B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799832" y="4160520"/>
            <a:ext cx="16459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1E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defRPr sz="1050" b="1">
                <a:solidFill>
                  <a:srgbClr val="0C2238"/>
                </a:solidFill>
              </a:defRPr>
            </a:pPr>
            <a:r>
              <a:t>RecyclerView refresh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547104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0">
                <a:solidFill>
                  <a:srgbClr val="657488"/>
                </a:solidFill>
                <a:latin typeface="Aptos"/>
              </a:defRPr>
            </a:pPr>
            <a:r>
              <a:t>TripCast | Zhang Weibin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47104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657488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961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Creative Extension: Outfit Advisor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0">
                <a:solidFill>
                  <a:srgbClr val="F6B84C"/>
                </a:solidFill>
                <a:latin typeface="Aptos"/>
              </a:defRPr>
            </a:pPr>
            <a:r>
              <a:t>A local rule-based advisor inspired by the professor's suggestion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3310128" cy="1938528"/>
          </a:xfrm>
          <a:prstGeom prst="roundRect">
            <a:avLst/>
          </a:prstGeom>
          <a:solidFill>
            <a:srgbClr val="173754"/>
          </a:solidFill>
          <a:ln>
            <a:solidFill>
              <a:srgbClr val="375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417320"/>
            <a:ext cx="73152" cy="1938528"/>
          </a:xfrm>
          <a:prstGeom prst="rect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58191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Input facts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947672"/>
            <a:ext cx="2926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DEEBF5"/>
                </a:solidFill>
                <a:latin typeface="Aptos"/>
              </a:defRPr>
            </a:pPr>
            <a:r>
              <a:t>Apparent temperature</a:t>
            </a:r>
            <a:br/>
            <a:r>
              <a:t>Rain / snow</a:t>
            </a:r>
            <a:br/>
            <a:r>
              <a:t>Thunderstorm code</a:t>
            </a:r>
            <a:br/>
            <a:r>
              <a:t>Wind speed</a:t>
            </a:r>
            <a:br/>
            <a:r>
              <a:t>Sunny + hot cases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417320"/>
            <a:ext cx="3310128" cy="1938528"/>
          </a:xfrm>
          <a:prstGeom prst="roundRect">
            <a:avLst/>
          </a:prstGeom>
          <a:solidFill>
            <a:srgbClr val="173754"/>
          </a:solidFill>
          <a:ln>
            <a:solidFill>
              <a:srgbClr val="375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61688" y="1417320"/>
            <a:ext cx="73152" cy="1938528"/>
          </a:xfrm>
          <a:prstGeom prst="rect">
            <a:avLst/>
          </a:prstGeom>
          <a:solidFill>
            <a:srgbClr val="F6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5" y="158191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Decision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5" y="1947672"/>
            <a:ext cx="2926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DEEBF5"/>
                </a:solidFill>
                <a:latin typeface="Aptos"/>
              </a:defRPr>
            </a:pPr>
            <a:r>
              <a:t>Rule-based local agent checks weather values and selects practical clothing advice.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417320"/>
            <a:ext cx="3310128" cy="1938528"/>
          </a:xfrm>
          <a:prstGeom prst="roundRect">
            <a:avLst/>
          </a:prstGeom>
          <a:solidFill>
            <a:srgbClr val="173754"/>
          </a:solidFill>
          <a:ln>
            <a:solidFill>
              <a:srgbClr val="375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65008" y="1417320"/>
            <a:ext cx="73152" cy="1938528"/>
          </a:xfrm>
          <a:prstGeom prst="rect">
            <a:avLst/>
          </a:prstGeom>
          <a:solidFill>
            <a:srgbClr val="49B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158191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Output advice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6" y="1947672"/>
            <a:ext cx="2926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DEEBF5"/>
                </a:solidFill>
                <a:latin typeface="Aptos"/>
              </a:defRPr>
            </a:pPr>
            <a:r>
              <a:t>Winter coat, hoodie, raincoat, waterproof shoes, sunglasses, sunscreen or windbreaker.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4251960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50">
                <a:solidFill>
                  <a:srgbClr val="FFFFFF"/>
                </a:solidFill>
                <a:latin typeface="Aptos"/>
              </a:defRPr>
            </a:pPr>
            <a:r>
              <a:t>✓ No LLM API key is required for the final demo</a:t>
            </a:r>
          </a:p>
          <a:p>
            <a:pPr>
              <a:spcAft>
                <a:spcPts val="600"/>
              </a:spcAft>
              <a:defRPr sz="1550">
                <a:solidFill>
                  <a:srgbClr val="FFFFFF"/>
                </a:solidFill>
                <a:latin typeface="Aptos"/>
              </a:defRPr>
            </a:pPr>
            <a:r>
              <a:t>✓ The module is isolated in OutfitAdvisor.java</a:t>
            </a:r>
          </a:p>
          <a:p>
            <a:pPr>
              <a:spcAft>
                <a:spcPts val="600"/>
              </a:spcAft>
              <a:defRPr sz="1550">
                <a:solidFill>
                  <a:srgbClr val="FFFFFF"/>
                </a:solidFill>
                <a:latin typeface="Aptos"/>
              </a:defRPr>
            </a:pPr>
            <a:r>
              <a:t>✓ It can later be replaced by a real LLM API 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547104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0">
                <a:solidFill>
                  <a:srgbClr val="657488"/>
                </a:solidFill>
                <a:latin typeface="Aptos"/>
              </a:defRPr>
            </a:pPr>
            <a:r>
              <a:t>TripCast | Zhang Weibin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547104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657488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8961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0C2238"/>
                </a:solidFill>
                <a:latin typeface="Aptos"/>
              </a:defRPr>
            </a:pPr>
            <a:r>
              <a:t>Implementation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0">
                <a:solidFill>
                  <a:srgbClr val="657488"/>
                </a:solidFill>
                <a:latin typeface="Aptos"/>
              </a:defRPr>
            </a:pPr>
            <a:r>
              <a:t>Main files and responsibilities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34440"/>
            <a:ext cx="2395728" cy="329184"/>
          </a:xfrm>
          <a:prstGeom prst="roundRect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MainActivity.java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1289304"/>
            <a:ext cx="7406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1C293A"/>
                </a:solidFill>
                <a:latin typeface="Aptos"/>
              </a:defRPr>
            </a:pPr>
            <a:r>
              <a:t>UI logic, permissions, API callbacks, notifications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2395728" cy="329184"/>
          </a:xfrm>
          <a:prstGeom prst="roundRect">
            <a:avLst/>
          </a:prstGeom>
          <a:solidFill>
            <a:srgbClr val="4DB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WeatherRepository.java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929384"/>
            <a:ext cx="7406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1C293A"/>
                </a:solidFill>
                <a:latin typeface="Aptos"/>
              </a:defRPr>
            </a:pPr>
            <a:r>
              <a:t>Retrofit setup and API request methods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514600"/>
            <a:ext cx="2395728" cy="329184"/>
          </a:xfrm>
          <a:prstGeom prst="roundRect">
            <a:avLst/>
          </a:prstGeom>
          <a:solidFill>
            <a:srgbClr val="49B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WeatherResponse.java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569464"/>
            <a:ext cx="7406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1C293A"/>
                </a:solidFill>
                <a:latin typeface="Aptos"/>
              </a:defRPr>
            </a:pPr>
            <a:r>
              <a:t>JSON model for current weather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154680"/>
            <a:ext cx="2395728" cy="329184"/>
          </a:xfrm>
          <a:prstGeom prst="roundRect">
            <a:avLst/>
          </a:prstGeom>
          <a:solidFill>
            <a:srgbClr val="F6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FavoriteCity*.java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209544"/>
            <a:ext cx="7406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1C293A"/>
                </a:solidFill>
                <a:latin typeface="Aptos"/>
              </a:defRPr>
            </a:pPr>
            <a:r>
              <a:t>Room entity, DAO and database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794760"/>
            <a:ext cx="2395728" cy="329184"/>
          </a:xfrm>
          <a:prstGeom prst="roundRect">
            <a:avLst/>
          </a:prstGeom>
          <a:solidFill>
            <a:srgbClr val="E8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FavoriteCityAdapter.java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849624"/>
            <a:ext cx="7406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1C293A"/>
                </a:solidFill>
                <a:latin typeface="Aptos"/>
              </a:defRPr>
            </a:pPr>
            <a:r>
              <a:t>RecyclerView rows for saved cities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34840"/>
            <a:ext cx="2395728" cy="329184"/>
          </a:xfrm>
          <a:prstGeom prst="roundRect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WeatherInterpreter.java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4489704"/>
            <a:ext cx="7406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1C293A"/>
                </a:solidFill>
                <a:latin typeface="Aptos"/>
              </a:defRPr>
            </a:pPr>
            <a:r>
              <a:t>Weather code to text, icon and travel advice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074920"/>
            <a:ext cx="2395728" cy="329184"/>
          </a:xfrm>
          <a:prstGeom prst="roundRect">
            <a:avLst/>
          </a:prstGeom>
          <a:solidFill>
            <a:srgbClr val="49B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OutfitAdvisor.java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5129784"/>
            <a:ext cx="7406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1C293A"/>
                </a:solidFill>
                <a:latin typeface="Aptos"/>
              </a:defRPr>
            </a:pPr>
            <a:r>
              <a:t>Weather facts to clothing recommendation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547104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0">
                <a:solidFill>
                  <a:srgbClr val="657488"/>
                </a:solidFill>
                <a:latin typeface="Aptos"/>
              </a:defRPr>
            </a:pPr>
            <a:r>
              <a:t>TripCast | Zhang Weibin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47104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657488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8961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0C2238"/>
                </a:solidFill>
                <a:latin typeface="Aptos"/>
              </a:defRPr>
            </a:pPr>
            <a:r>
              <a:t>Live Demo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0">
                <a:solidFill>
                  <a:srgbClr val="657488"/>
                </a:solidFill>
                <a:latin typeface="Aptos"/>
              </a:defRPr>
            </a:pPr>
            <a:r>
              <a:t>Short sequence for final-week presentation</a:t>
            </a:r>
          </a:p>
        </p:txBody>
      </p:sp>
      <p:sp>
        <p:nvSpPr>
          <p:cNvPr id="5" name="Oval 4"/>
          <p:cNvSpPr/>
          <p:nvPr/>
        </p:nvSpPr>
        <p:spPr>
          <a:xfrm>
            <a:off x="658368" y="1234440"/>
            <a:ext cx="347472" cy="347472"/>
          </a:xfrm>
          <a:prstGeom prst="ellipse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1271016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20" b="0">
                <a:solidFill>
                  <a:srgbClr val="1C293A"/>
                </a:solidFill>
                <a:latin typeface="Aptos"/>
              </a:defRPr>
            </a:pPr>
            <a:r>
              <a:t>Show default Budapest weather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856232"/>
            <a:ext cx="347472" cy="347472"/>
          </a:xfrm>
          <a:prstGeom prst="ellipse">
            <a:avLst/>
          </a:prstGeom>
          <a:solidFill>
            <a:srgbClr val="4DB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189280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20" b="0">
                <a:solidFill>
                  <a:srgbClr val="1C293A"/>
                </a:solidFill>
                <a:latin typeface="Aptos"/>
              </a:defRPr>
            </a:pPr>
            <a:r>
              <a:t>Search Debrecen or another city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478024"/>
            <a:ext cx="347472" cy="347472"/>
          </a:xfrm>
          <a:prstGeom prst="ellipse">
            <a:avLst/>
          </a:prstGeom>
          <a:solidFill>
            <a:srgbClr val="49B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2514600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20" b="0">
                <a:solidFill>
                  <a:srgbClr val="1C293A"/>
                </a:solidFill>
                <a:latin typeface="Aptos"/>
              </a:defRPr>
            </a:pPr>
            <a:r>
              <a:t>Use GPS weather and explain permission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099816"/>
            <a:ext cx="347472" cy="347472"/>
          </a:xfrm>
          <a:prstGeom prst="ellipse">
            <a:avLst/>
          </a:prstGeom>
          <a:solidFill>
            <a:srgbClr val="F6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3136392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20" b="0">
                <a:solidFill>
                  <a:srgbClr val="1C293A"/>
                </a:solidFill>
                <a:latin typeface="Aptos"/>
              </a:defRPr>
            </a:pPr>
            <a:r>
              <a:t>Save a city as favorite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3721608"/>
            <a:ext cx="347472" cy="347472"/>
          </a:xfrm>
          <a:prstGeom prst="ellipse">
            <a:avLst/>
          </a:prstGeom>
          <a:solidFill>
            <a:srgbClr val="E8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3758184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20" b="0">
                <a:solidFill>
                  <a:srgbClr val="1C293A"/>
                </a:solidFill>
                <a:latin typeface="Aptos"/>
              </a:defRPr>
            </a:pPr>
            <a:r>
              <a:t>Reload and delete a favorite city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4343400"/>
            <a:ext cx="347472" cy="347472"/>
          </a:xfrm>
          <a:prstGeom prst="ellipse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4379976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20" b="0">
                <a:solidFill>
                  <a:srgbClr val="1C293A"/>
                </a:solidFill>
                <a:latin typeface="Aptos"/>
              </a:defRPr>
            </a:pPr>
            <a:r>
              <a:t>Explain travel advice and Outfit Advisor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965192"/>
            <a:ext cx="347472" cy="347472"/>
          </a:xfrm>
          <a:prstGeom prst="ellipse">
            <a:avLst/>
          </a:prstGeom>
          <a:solidFill>
            <a:srgbClr val="4DB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2728" y="5001768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20" b="0">
                <a:solidFill>
                  <a:srgbClr val="1C293A"/>
                </a:solidFill>
                <a:latin typeface="Aptos"/>
              </a:defRPr>
            </a:pPr>
            <a:r>
              <a:t>Show notification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547104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0">
                <a:solidFill>
                  <a:srgbClr val="657488"/>
                </a:solidFill>
                <a:latin typeface="Aptos"/>
              </a:defRPr>
            </a:pPr>
            <a:r>
              <a:t>TripCast | Zhang Weibin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47104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657488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731520"/>
            <a:ext cx="3383280" cy="3383280"/>
          </a:xfrm>
          <a:prstGeom prst="ellipse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5212080"/>
            <a:ext cx="2011680" cy="2011680"/>
          </a:xfrm>
          <a:prstGeom prst="ellipse">
            <a:avLst/>
          </a:prstGeom>
          <a:solidFill>
            <a:srgbClr val="F6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0624"/>
            <a:ext cx="89611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96112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0">
                <a:solidFill>
                  <a:srgbClr val="F6B84C"/>
                </a:solidFill>
                <a:latin typeface="Aptos"/>
              </a:defRPr>
            </a:pPr>
            <a:r>
              <a:t>Why the project is ready for grade 5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3310128" cy="1783080"/>
          </a:xfrm>
          <a:prstGeom prst="roundRect">
            <a:avLst/>
          </a:prstGeom>
          <a:solidFill>
            <a:srgbClr val="173754"/>
          </a:solidFill>
          <a:ln>
            <a:solidFill>
              <a:srgbClr val="375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73152" cy="1783080"/>
          </a:xfrm>
          <a:prstGeom prst="rect">
            <a:avLst/>
          </a:prstGeom>
          <a:solidFill>
            <a:srgbClr val="1E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1051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Complex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176272"/>
            <a:ext cx="2926080" cy="1124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DEEBF5"/>
                </a:solidFill>
                <a:latin typeface="Aptos"/>
              </a:defRPr>
            </a:pPr>
            <a:r>
              <a:t>UI, GPS, APIs, JSON parsing, Room, RecyclerView and notifications.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645920"/>
            <a:ext cx="3310128" cy="1783080"/>
          </a:xfrm>
          <a:prstGeom prst="roundRect">
            <a:avLst/>
          </a:prstGeom>
          <a:solidFill>
            <a:srgbClr val="173754"/>
          </a:solidFill>
          <a:ln>
            <a:solidFill>
              <a:srgbClr val="375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1688" y="1645920"/>
            <a:ext cx="73152" cy="1783080"/>
          </a:xfrm>
          <a:prstGeom prst="rect">
            <a:avLst/>
          </a:prstGeom>
          <a:solidFill>
            <a:srgbClr val="F6B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5" y="181051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Third-party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5" y="2176272"/>
            <a:ext cx="2926080" cy="1124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DEEBF5"/>
                </a:solidFill>
                <a:latin typeface="Aptos"/>
              </a:defRPr>
            </a:pPr>
            <a:r>
              <a:t>Open-Meteo APIs, Retrofit, Gson, Room and Material Components.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645920"/>
            <a:ext cx="3310128" cy="1783080"/>
          </a:xfrm>
          <a:prstGeom prst="roundRect">
            <a:avLst/>
          </a:prstGeom>
          <a:solidFill>
            <a:srgbClr val="173754"/>
          </a:solidFill>
          <a:ln>
            <a:solidFill>
              <a:srgbClr val="375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1645920"/>
            <a:ext cx="73152" cy="1783080"/>
          </a:xfrm>
          <a:prstGeom prst="rect">
            <a:avLst/>
          </a:prstGeom>
          <a:solidFill>
            <a:srgbClr val="49B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181051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Creative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176272"/>
            <a:ext cx="2926080" cy="1124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30" b="0">
                <a:solidFill>
                  <a:srgbClr val="DEEBF5"/>
                </a:solidFill>
                <a:latin typeface="Aptos"/>
              </a:defRPr>
            </a:pPr>
            <a:r>
              <a:t>Outfit Advisor turns weather data into personalized clothing advice.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074920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ptos"/>
              </a:defRPr>
            </a:pPr>
            <a:r>
              <a:t>Thank you for your attention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547104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0">
                <a:solidFill>
                  <a:srgbClr val="BECFDE"/>
                </a:solidFill>
                <a:latin typeface="Aptos"/>
              </a:defRPr>
            </a:pPr>
            <a:r>
              <a:t>TripCast | Zhang Weibin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47104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BECFDE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